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resources/Screenshot%202025-12-29%20162924.png" TargetMode="External"/><Relationship Id="rId2" Type="http://schemas.openxmlformats.org/officeDocument/2006/relationships/hyperlink" Target="resources/Screenshot%202025-12-29%20162830.png" TargetMode="External"/><Relationship Id="rId1" Type="http://schemas.openxmlformats.org/officeDocument/2006/relationships/hyperlink" Target="resources/Screenshot%202025-12-29%20162613.png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resources/Screenshot%202025-12-29%20162924.png" TargetMode="External"/><Relationship Id="rId2" Type="http://schemas.openxmlformats.org/officeDocument/2006/relationships/hyperlink" Target="resources/Screenshot%202025-12-29%20162830.png" TargetMode="External"/><Relationship Id="rId1" Type="http://schemas.openxmlformats.org/officeDocument/2006/relationships/hyperlink" Target="resources/Screenshot%202025-12-29%20162613.p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04C3E-4304-4751-8691-5F6AA7374BF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02E128-FF39-4E18-B5BA-2D3E0BA1E322}">
      <dgm:prSet/>
      <dgm:spPr/>
      <dgm:t>
        <a:bodyPr/>
        <a:lstStyle/>
        <a:p>
          <a:r>
            <a:rPr lang="ro-RO"/>
            <a:t>Export PDF Profesional: Generat prin QPrinter și QPainter, incluzând statistici sintetice și antet formatat.</a:t>
          </a:r>
          <a:endParaRPr lang="en-US"/>
        </a:p>
      </dgm:t>
    </dgm:pt>
    <dgm:pt modelId="{4E80FF93-5E4E-4E1E-9611-F70F596CD642}" type="parTrans" cxnId="{42834E31-308F-4A4A-8456-D29E12DF7C46}">
      <dgm:prSet/>
      <dgm:spPr/>
      <dgm:t>
        <a:bodyPr/>
        <a:lstStyle/>
        <a:p>
          <a:endParaRPr lang="en-US"/>
        </a:p>
      </dgm:t>
    </dgm:pt>
    <dgm:pt modelId="{84DF038D-887A-4AD0-846F-213AD9DAB53A}" type="sibTrans" cxnId="{42834E31-308F-4A4A-8456-D29E12DF7C46}">
      <dgm:prSet/>
      <dgm:spPr/>
      <dgm:t>
        <a:bodyPr/>
        <a:lstStyle/>
        <a:p>
          <a:endParaRPr lang="en-US"/>
        </a:p>
      </dgm:t>
    </dgm:pt>
    <dgm:pt modelId="{4B4C3B18-832E-49E7-AACB-5DF3ABFB548A}">
      <dgm:prSet/>
      <dgm:spPr/>
      <dgm:t>
        <a:bodyPr/>
        <a:lstStyle/>
        <a:p>
          <a:r>
            <a:rPr lang="ro-RO"/>
            <a:t>Statistici: Temperatură medie, minime/maxime și total precipitații.</a:t>
          </a:r>
          <a:endParaRPr lang="en-US"/>
        </a:p>
      </dgm:t>
    </dgm:pt>
    <dgm:pt modelId="{303937AD-869D-460D-A738-B9786F53EDB7}" type="parTrans" cxnId="{6F9E4957-6A7B-4350-B96D-B212A2C92E04}">
      <dgm:prSet/>
      <dgm:spPr/>
      <dgm:t>
        <a:bodyPr/>
        <a:lstStyle/>
        <a:p>
          <a:endParaRPr lang="en-US"/>
        </a:p>
      </dgm:t>
    </dgm:pt>
    <dgm:pt modelId="{4BBB2A5A-73C9-4684-95EE-B3E9254F0F2C}" type="sibTrans" cxnId="{6F9E4957-6A7B-4350-B96D-B212A2C92E04}">
      <dgm:prSet/>
      <dgm:spPr/>
      <dgm:t>
        <a:bodyPr/>
        <a:lstStyle/>
        <a:p>
          <a:endParaRPr lang="en-US"/>
        </a:p>
      </dgm:t>
    </dgm:pt>
    <dgm:pt modelId="{A2DF7FE1-F158-4A4B-9145-6178CBA900BE}">
      <dgm:prSet/>
      <dgm:spPr/>
      <dgm:t>
        <a:bodyPr/>
        <a:lstStyle/>
        <a:p>
          <a:r>
            <a:rPr lang="ro-RO"/>
            <a:t>Format CSV: Exportul datelor brute pentru prelucrări externe.</a:t>
          </a:r>
          <a:endParaRPr lang="en-US"/>
        </a:p>
      </dgm:t>
    </dgm:pt>
    <dgm:pt modelId="{AC17DEC6-B13A-4E28-BE60-F307CFB06D1B}" type="parTrans" cxnId="{D0576792-308C-4EA0-A95C-39BE4167C7F1}">
      <dgm:prSet/>
      <dgm:spPr/>
      <dgm:t>
        <a:bodyPr/>
        <a:lstStyle/>
        <a:p>
          <a:endParaRPr lang="en-US"/>
        </a:p>
      </dgm:t>
    </dgm:pt>
    <dgm:pt modelId="{D96FDAF4-0E81-4FDC-A519-0FED667432CC}" type="sibTrans" cxnId="{D0576792-308C-4EA0-A95C-39BE4167C7F1}">
      <dgm:prSet/>
      <dgm:spPr/>
      <dgm:t>
        <a:bodyPr/>
        <a:lstStyle/>
        <a:p>
          <a:endParaRPr lang="en-US"/>
        </a:p>
      </dgm:t>
    </dgm:pt>
    <dgm:pt modelId="{17C67DC5-ABAB-4A2A-817A-E89DC4FDDD79}" type="pres">
      <dgm:prSet presAssocID="{2FC04C3E-4304-4751-8691-5F6AA7374BFE}" presName="linear" presStyleCnt="0">
        <dgm:presLayoutVars>
          <dgm:animLvl val="lvl"/>
          <dgm:resizeHandles val="exact"/>
        </dgm:presLayoutVars>
      </dgm:prSet>
      <dgm:spPr/>
    </dgm:pt>
    <dgm:pt modelId="{CD4D0384-6BCB-4416-B5D0-1D8668674F75}" type="pres">
      <dgm:prSet presAssocID="{8502E128-FF39-4E18-B5BA-2D3E0BA1E3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A47F6F-41BB-45FD-A3D3-2FEC2F30068C}" type="pres">
      <dgm:prSet presAssocID="{84DF038D-887A-4AD0-846F-213AD9DAB53A}" presName="spacer" presStyleCnt="0"/>
      <dgm:spPr/>
    </dgm:pt>
    <dgm:pt modelId="{D94B04A0-480D-4527-B23A-F3C77CDD71E0}" type="pres">
      <dgm:prSet presAssocID="{4B4C3B18-832E-49E7-AACB-5DF3ABFB54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209002-82A3-4E02-95DD-D52D0493C5A5}" type="pres">
      <dgm:prSet presAssocID="{4BBB2A5A-73C9-4684-95EE-B3E9254F0F2C}" presName="spacer" presStyleCnt="0"/>
      <dgm:spPr/>
    </dgm:pt>
    <dgm:pt modelId="{E21C1DDC-99A7-44FA-B5F5-F2B420449E17}" type="pres">
      <dgm:prSet presAssocID="{A2DF7FE1-F158-4A4B-9145-6178CBA900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2834E31-308F-4A4A-8456-D29E12DF7C46}" srcId="{2FC04C3E-4304-4751-8691-5F6AA7374BFE}" destId="{8502E128-FF39-4E18-B5BA-2D3E0BA1E322}" srcOrd="0" destOrd="0" parTransId="{4E80FF93-5E4E-4E1E-9611-F70F596CD642}" sibTransId="{84DF038D-887A-4AD0-846F-213AD9DAB53A}"/>
    <dgm:cxn modelId="{C3CA3B5F-DED9-49A1-92E5-C5E1FB4B79C4}" type="presOf" srcId="{4B4C3B18-832E-49E7-AACB-5DF3ABFB548A}" destId="{D94B04A0-480D-4527-B23A-F3C77CDD71E0}" srcOrd="0" destOrd="0" presId="urn:microsoft.com/office/officeart/2005/8/layout/vList2"/>
    <dgm:cxn modelId="{6F9E4957-6A7B-4350-B96D-B212A2C92E04}" srcId="{2FC04C3E-4304-4751-8691-5F6AA7374BFE}" destId="{4B4C3B18-832E-49E7-AACB-5DF3ABFB548A}" srcOrd="1" destOrd="0" parTransId="{303937AD-869D-460D-A738-B9786F53EDB7}" sibTransId="{4BBB2A5A-73C9-4684-95EE-B3E9254F0F2C}"/>
    <dgm:cxn modelId="{7954FD7C-E6A9-4A36-887B-0CE8A241D065}" type="presOf" srcId="{8502E128-FF39-4E18-B5BA-2D3E0BA1E322}" destId="{CD4D0384-6BCB-4416-B5D0-1D8668674F75}" srcOrd="0" destOrd="0" presId="urn:microsoft.com/office/officeart/2005/8/layout/vList2"/>
    <dgm:cxn modelId="{D0576792-308C-4EA0-A95C-39BE4167C7F1}" srcId="{2FC04C3E-4304-4751-8691-5F6AA7374BFE}" destId="{A2DF7FE1-F158-4A4B-9145-6178CBA900BE}" srcOrd="2" destOrd="0" parTransId="{AC17DEC6-B13A-4E28-BE60-F307CFB06D1B}" sibTransId="{D96FDAF4-0E81-4FDC-A519-0FED667432CC}"/>
    <dgm:cxn modelId="{9A10F6A3-0EE3-4806-92F5-BE9D8FB72FD0}" type="presOf" srcId="{2FC04C3E-4304-4751-8691-5F6AA7374BFE}" destId="{17C67DC5-ABAB-4A2A-817A-E89DC4FDDD79}" srcOrd="0" destOrd="0" presId="urn:microsoft.com/office/officeart/2005/8/layout/vList2"/>
    <dgm:cxn modelId="{60E8CAF2-7A09-4F6E-B435-91B0C4E4C53B}" type="presOf" srcId="{A2DF7FE1-F158-4A4B-9145-6178CBA900BE}" destId="{E21C1DDC-99A7-44FA-B5F5-F2B420449E17}" srcOrd="0" destOrd="0" presId="urn:microsoft.com/office/officeart/2005/8/layout/vList2"/>
    <dgm:cxn modelId="{E0E0617A-C395-41CF-8570-3AE386910DB9}" type="presParOf" srcId="{17C67DC5-ABAB-4A2A-817A-E89DC4FDDD79}" destId="{CD4D0384-6BCB-4416-B5D0-1D8668674F75}" srcOrd="0" destOrd="0" presId="urn:microsoft.com/office/officeart/2005/8/layout/vList2"/>
    <dgm:cxn modelId="{090F6CEF-B973-47F8-95A1-C1A270C377BB}" type="presParOf" srcId="{17C67DC5-ABAB-4A2A-817A-E89DC4FDDD79}" destId="{57A47F6F-41BB-45FD-A3D3-2FEC2F30068C}" srcOrd="1" destOrd="0" presId="urn:microsoft.com/office/officeart/2005/8/layout/vList2"/>
    <dgm:cxn modelId="{40A16DCC-CF16-4819-9748-BE799BE17C99}" type="presParOf" srcId="{17C67DC5-ABAB-4A2A-817A-E89DC4FDDD79}" destId="{D94B04A0-480D-4527-B23A-F3C77CDD71E0}" srcOrd="2" destOrd="0" presId="urn:microsoft.com/office/officeart/2005/8/layout/vList2"/>
    <dgm:cxn modelId="{33952C26-D074-4C62-8D83-2BD56E8086B2}" type="presParOf" srcId="{17C67DC5-ABAB-4A2A-817A-E89DC4FDDD79}" destId="{C8209002-82A3-4E02-95DD-D52D0493C5A5}" srcOrd="3" destOrd="0" presId="urn:microsoft.com/office/officeart/2005/8/layout/vList2"/>
    <dgm:cxn modelId="{102B6D49-32C4-4C1A-B066-7A5A335AD690}" type="presParOf" srcId="{17C67DC5-ABAB-4A2A-817A-E89DC4FDDD79}" destId="{E21C1DDC-99A7-44FA-B5F5-F2B420449E1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ABEE6-7E7E-4DA9-A4DA-D3B2F73B1A1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6FC495-3A2A-4B07-9019-46AE6060C722}">
      <dgm:prSet/>
      <dgm:spPr/>
      <dgm:t>
        <a:bodyPr/>
        <a:lstStyle/>
        <a:p>
          <a:r>
            <a:rPr lang="ro-RO" dirty="0">
              <a:hlinkClick xmlns:r="http://schemas.openxmlformats.org/officeDocument/2006/relationships" r:id="rId1" action="ppaction://hlinkfile"/>
            </a:rPr>
            <a:t>Interfața principală cu tema </a:t>
          </a:r>
          <a:r>
            <a:rPr lang="ro-RO" dirty="0" err="1">
              <a:hlinkClick xmlns:r="http://schemas.openxmlformats.org/officeDocument/2006/relationships" r:id="rId1" action="ppaction://hlinkfile"/>
            </a:rPr>
            <a:t>Dark</a:t>
          </a:r>
          <a:r>
            <a:rPr lang="ro-RO" dirty="0">
              <a:hlinkClick xmlns:r="http://schemas.openxmlformats.org/officeDocument/2006/relationships" r:id="rId1" action="ppaction://hlinkfile"/>
            </a:rPr>
            <a:t> Mode și tabelul populat.</a:t>
          </a:r>
          <a:endParaRPr lang="en-US" dirty="0"/>
        </a:p>
      </dgm:t>
    </dgm:pt>
    <dgm:pt modelId="{CC80FA31-74D2-49BB-968B-0F506151A91F}" type="parTrans" cxnId="{037FD472-7689-4592-ABE4-5382C4E09806}">
      <dgm:prSet/>
      <dgm:spPr/>
      <dgm:t>
        <a:bodyPr/>
        <a:lstStyle/>
        <a:p>
          <a:endParaRPr lang="en-US"/>
        </a:p>
      </dgm:t>
    </dgm:pt>
    <dgm:pt modelId="{57E70BDA-48E9-4D37-9DCD-091A85E2C2A2}" type="sibTrans" cxnId="{037FD472-7689-4592-ABE4-5382C4E09806}">
      <dgm:prSet/>
      <dgm:spPr/>
      <dgm:t>
        <a:bodyPr/>
        <a:lstStyle/>
        <a:p>
          <a:endParaRPr lang="en-US"/>
        </a:p>
      </dgm:t>
    </dgm:pt>
    <dgm:pt modelId="{AC4F4EC8-87A3-4BDF-9D70-59ABBDF2AC72}">
      <dgm:prSet/>
      <dgm:spPr/>
      <dgm:t>
        <a:bodyPr/>
        <a:lstStyle/>
        <a:p>
          <a:r>
            <a:rPr lang="ro-RO" dirty="0">
              <a:hlinkClick xmlns:r="http://schemas.openxmlformats.org/officeDocument/2006/relationships" r:id="rId2" action="ppaction://hlinkfile"/>
            </a:rPr>
            <a:t>Graficele interactive cu </a:t>
          </a:r>
          <a:r>
            <a:rPr lang="ro-RO" dirty="0" err="1">
              <a:hlinkClick xmlns:r="http://schemas.openxmlformats.org/officeDocument/2006/relationships" r:id="rId2" action="ppaction://hlinkfile"/>
            </a:rPr>
            <a:t>tooltip-ul</a:t>
          </a:r>
          <a:r>
            <a:rPr lang="ro-RO" dirty="0">
              <a:hlinkClick xmlns:r="http://schemas.openxmlformats.org/officeDocument/2006/relationships" r:id="rId2" action="ppaction://hlinkfile"/>
            </a:rPr>
            <a:t> de </a:t>
          </a:r>
          <a:r>
            <a:rPr lang="ro-RO" dirty="0" err="1">
              <a:hlinkClick xmlns:r="http://schemas.openxmlformats.org/officeDocument/2006/relationships" r:id="rId2" action="ppaction://hlinkfile"/>
            </a:rPr>
            <a:t>hover</a:t>
          </a:r>
          <a:r>
            <a:rPr lang="ro-RO" dirty="0">
              <a:hlinkClick xmlns:r="http://schemas.openxmlformats.org/officeDocument/2006/relationships" r:id="rId2" action="ppaction://hlinkfile"/>
            </a:rPr>
            <a:t> activ.</a:t>
          </a:r>
          <a:endParaRPr lang="en-US" dirty="0"/>
        </a:p>
      </dgm:t>
    </dgm:pt>
    <dgm:pt modelId="{B08EB5B7-E5FB-4B93-8FD6-7D77DD331483}" type="parTrans" cxnId="{354C0DE0-5B9D-428E-B965-5EDBD573A101}">
      <dgm:prSet/>
      <dgm:spPr/>
      <dgm:t>
        <a:bodyPr/>
        <a:lstStyle/>
        <a:p>
          <a:endParaRPr lang="en-US"/>
        </a:p>
      </dgm:t>
    </dgm:pt>
    <dgm:pt modelId="{0C33E350-6A76-44A6-834C-E8F40E01B20E}" type="sibTrans" cxnId="{354C0DE0-5B9D-428E-B965-5EDBD573A101}">
      <dgm:prSet/>
      <dgm:spPr/>
      <dgm:t>
        <a:bodyPr/>
        <a:lstStyle/>
        <a:p>
          <a:endParaRPr lang="en-US"/>
        </a:p>
      </dgm:t>
    </dgm:pt>
    <dgm:pt modelId="{46A5F981-464C-4C65-8AC3-DEFDFFC552A1}">
      <dgm:prSet/>
      <dgm:spPr/>
      <dgm:t>
        <a:bodyPr/>
        <a:lstStyle/>
        <a:p>
          <a:r>
            <a:rPr lang="ro-RO" dirty="0">
              <a:hlinkClick xmlns:r="http://schemas.openxmlformats.org/officeDocument/2006/relationships" r:id="rId3" action="ppaction://hlinkfile"/>
            </a:rPr>
            <a:t>Panoul de setări configurat pentru locația selectată.</a:t>
          </a:r>
          <a:endParaRPr lang="en-US" dirty="0"/>
        </a:p>
      </dgm:t>
    </dgm:pt>
    <dgm:pt modelId="{490A85FE-317F-4768-B9BD-CAB9A1D814A9}" type="parTrans" cxnId="{5EAD1B0C-8DC2-4DC4-A75D-D1A3A9F55427}">
      <dgm:prSet/>
      <dgm:spPr/>
      <dgm:t>
        <a:bodyPr/>
        <a:lstStyle/>
        <a:p>
          <a:endParaRPr lang="en-US"/>
        </a:p>
      </dgm:t>
    </dgm:pt>
    <dgm:pt modelId="{F4CD7869-C0FB-4D76-B812-CBF0A95696EE}" type="sibTrans" cxnId="{5EAD1B0C-8DC2-4DC4-A75D-D1A3A9F55427}">
      <dgm:prSet/>
      <dgm:spPr/>
      <dgm:t>
        <a:bodyPr/>
        <a:lstStyle/>
        <a:p>
          <a:endParaRPr lang="en-US"/>
        </a:p>
      </dgm:t>
    </dgm:pt>
    <dgm:pt modelId="{90F81D89-5590-4046-8237-81F43CD3D868}" type="pres">
      <dgm:prSet presAssocID="{334ABEE6-7E7E-4DA9-A4DA-D3B2F73B1A18}" presName="linear" presStyleCnt="0">
        <dgm:presLayoutVars>
          <dgm:animLvl val="lvl"/>
          <dgm:resizeHandles val="exact"/>
        </dgm:presLayoutVars>
      </dgm:prSet>
      <dgm:spPr/>
    </dgm:pt>
    <dgm:pt modelId="{8179A74F-8E62-42E1-922C-34FFF70601B3}" type="pres">
      <dgm:prSet presAssocID="{F06FC495-3A2A-4B07-9019-46AE6060C7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C3D682-8715-445E-AA97-3DD11B944E2F}" type="pres">
      <dgm:prSet presAssocID="{57E70BDA-48E9-4D37-9DCD-091A85E2C2A2}" presName="spacer" presStyleCnt="0"/>
      <dgm:spPr/>
    </dgm:pt>
    <dgm:pt modelId="{E78AC3A1-8AB3-4BBC-B4B9-F3A1C0B3342F}" type="pres">
      <dgm:prSet presAssocID="{AC4F4EC8-87A3-4BDF-9D70-59ABBDF2AC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00E5B2-DE67-4C01-800B-4C1685F75E41}" type="pres">
      <dgm:prSet presAssocID="{0C33E350-6A76-44A6-834C-E8F40E01B20E}" presName="spacer" presStyleCnt="0"/>
      <dgm:spPr/>
    </dgm:pt>
    <dgm:pt modelId="{6432635C-5F89-46F3-B36B-6CDE35E169BC}" type="pres">
      <dgm:prSet presAssocID="{46A5F981-464C-4C65-8AC3-DEFDFFC552A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3CC3409-0F27-4A26-BCD9-BF3635122B1F}" type="presOf" srcId="{F06FC495-3A2A-4B07-9019-46AE6060C722}" destId="{8179A74F-8E62-42E1-922C-34FFF70601B3}" srcOrd="0" destOrd="0" presId="urn:microsoft.com/office/officeart/2005/8/layout/vList2"/>
    <dgm:cxn modelId="{5EAD1B0C-8DC2-4DC4-A75D-D1A3A9F55427}" srcId="{334ABEE6-7E7E-4DA9-A4DA-D3B2F73B1A18}" destId="{46A5F981-464C-4C65-8AC3-DEFDFFC552A1}" srcOrd="2" destOrd="0" parTransId="{490A85FE-317F-4768-B9BD-CAB9A1D814A9}" sibTransId="{F4CD7869-C0FB-4D76-B812-CBF0A95696EE}"/>
    <dgm:cxn modelId="{9C51B417-2D0E-43C7-B4C6-A4068A0E0AE5}" type="presOf" srcId="{334ABEE6-7E7E-4DA9-A4DA-D3B2F73B1A18}" destId="{90F81D89-5590-4046-8237-81F43CD3D868}" srcOrd="0" destOrd="0" presId="urn:microsoft.com/office/officeart/2005/8/layout/vList2"/>
    <dgm:cxn modelId="{0E38CB2E-805A-4E2E-B751-78C660E0E62C}" type="presOf" srcId="{AC4F4EC8-87A3-4BDF-9D70-59ABBDF2AC72}" destId="{E78AC3A1-8AB3-4BBC-B4B9-F3A1C0B3342F}" srcOrd="0" destOrd="0" presId="urn:microsoft.com/office/officeart/2005/8/layout/vList2"/>
    <dgm:cxn modelId="{037FD472-7689-4592-ABE4-5382C4E09806}" srcId="{334ABEE6-7E7E-4DA9-A4DA-D3B2F73B1A18}" destId="{F06FC495-3A2A-4B07-9019-46AE6060C722}" srcOrd="0" destOrd="0" parTransId="{CC80FA31-74D2-49BB-968B-0F506151A91F}" sibTransId="{57E70BDA-48E9-4D37-9DCD-091A85E2C2A2}"/>
    <dgm:cxn modelId="{354C0DE0-5B9D-428E-B965-5EDBD573A101}" srcId="{334ABEE6-7E7E-4DA9-A4DA-D3B2F73B1A18}" destId="{AC4F4EC8-87A3-4BDF-9D70-59ABBDF2AC72}" srcOrd="1" destOrd="0" parTransId="{B08EB5B7-E5FB-4B93-8FD6-7D77DD331483}" sibTransId="{0C33E350-6A76-44A6-834C-E8F40E01B20E}"/>
    <dgm:cxn modelId="{C8119CFD-B9A0-4072-8510-2EB9E8270610}" type="presOf" srcId="{46A5F981-464C-4C65-8AC3-DEFDFFC552A1}" destId="{6432635C-5F89-46F3-B36B-6CDE35E169BC}" srcOrd="0" destOrd="0" presId="urn:microsoft.com/office/officeart/2005/8/layout/vList2"/>
    <dgm:cxn modelId="{86BB0DC8-C0B5-4DEE-9E23-F1D433D7CFAD}" type="presParOf" srcId="{90F81D89-5590-4046-8237-81F43CD3D868}" destId="{8179A74F-8E62-42E1-922C-34FFF70601B3}" srcOrd="0" destOrd="0" presId="urn:microsoft.com/office/officeart/2005/8/layout/vList2"/>
    <dgm:cxn modelId="{D991F68B-1F69-4FAB-89EF-CCE9E9E86FAB}" type="presParOf" srcId="{90F81D89-5590-4046-8237-81F43CD3D868}" destId="{93C3D682-8715-445E-AA97-3DD11B944E2F}" srcOrd="1" destOrd="0" presId="urn:microsoft.com/office/officeart/2005/8/layout/vList2"/>
    <dgm:cxn modelId="{DA92B704-B5B8-4211-B534-0C1A444DF782}" type="presParOf" srcId="{90F81D89-5590-4046-8237-81F43CD3D868}" destId="{E78AC3A1-8AB3-4BBC-B4B9-F3A1C0B3342F}" srcOrd="2" destOrd="0" presId="urn:microsoft.com/office/officeart/2005/8/layout/vList2"/>
    <dgm:cxn modelId="{77F25FAB-3C09-47A9-AA1A-DA34F7996AF1}" type="presParOf" srcId="{90F81D89-5590-4046-8237-81F43CD3D868}" destId="{3E00E5B2-DE67-4C01-800B-4C1685F75E41}" srcOrd="3" destOrd="0" presId="urn:microsoft.com/office/officeart/2005/8/layout/vList2"/>
    <dgm:cxn modelId="{049933CA-8B12-4792-A492-498C2915BB4D}" type="presParOf" srcId="{90F81D89-5590-4046-8237-81F43CD3D868}" destId="{6432635C-5F89-46F3-B36B-6CDE35E169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C15798-B73A-48ED-8620-8515CB94230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B47076-674D-4E3F-8F5B-B6AE8356E426}">
      <dgm:prSet/>
      <dgm:spPr/>
      <dgm:t>
        <a:bodyPr/>
        <a:lstStyle/>
        <a:p>
          <a:r>
            <a:rPr lang="ro-RO"/>
            <a:t>Danalache Emanuel: UI, layout responsiv, design tabel, Dark Mode.</a:t>
          </a:r>
          <a:endParaRPr lang="en-US"/>
        </a:p>
      </dgm:t>
    </dgm:pt>
    <dgm:pt modelId="{9096919A-326E-4C95-9A2D-334FF3D08768}" type="parTrans" cxnId="{114F27AA-C67A-4A13-9C00-A5DBA78B2C9A}">
      <dgm:prSet/>
      <dgm:spPr/>
      <dgm:t>
        <a:bodyPr/>
        <a:lstStyle/>
        <a:p>
          <a:endParaRPr lang="en-US"/>
        </a:p>
      </dgm:t>
    </dgm:pt>
    <dgm:pt modelId="{F8284276-0D19-47D3-B6E3-605EDF2546A9}" type="sibTrans" cxnId="{114F27AA-C67A-4A13-9C00-A5DBA78B2C9A}">
      <dgm:prSet/>
      <dgm:spPr/>
      <dgm:t>
        <a:bodyPr/>
        <a:lstStyle/>
        <a:p>
          <a:endParaRPr lang="en-US"/>
        </a:p>
      </dgm:t>
    </dgm:pt>
    <dgm:pt modelId="{8C96F936-6614-4EA4-8316-A7CF099F5EE0}">
      <dgm:prSet/>
      <dgm:spPr/>
      <dgm:t>
        <a:bodyPr/>
        <a:lstStyle/>
        <a:p>
          <a:r>
            <a:rPr lang="ro-RO"/>
            <a:t>Danalache Sebastian: Integrare API Open-Meteo, logică caching, procesare date.</a:t>
          </a:r>
          <a:endParaRPr lang="en-US"/>
        </a:p>
      </dgm:t>
    </dgm:pt>
    <dgm:pt modelId="{7449E744-29AA-45C3-8C79-2C748037CFDE}" type="parTrans" cxnId="{D76DCBC5-D05C-4CBD-A381-013835D8CC42}">
      <dgm:prSet/>
      <dgm:spPr/>
      <dgm:t>
        <a:bodyPr/>
        <a:lstStyle/>
        <a:p>
          <a:endParaRPr lang="en-US"/>
        </a:p>
      </dgm:t>
    </dgm:pt>
    <dgm:pt modelId="{FED267C0-AAD3-4E83-8746-0A377864F021}" type="sibTrans" cxnId="{D76DCBC5-D05C-4CBD-A381-013835D8CC42}">
      <dgm:prSet/>
      <dgm:spPr/>
      <dgm:t>
        <a:bodyPr/>
        <a:lstStyle/>
        <a:p>
          <a:endParaRPr lang="en-US"/>
        </a:p>
      </dgm:t>
    </dgm:pt>
    <dgm:pt modelId="{430D90DC-F77A-4554-BA17-DA050A11981C}">
      <dgm:prSet/>
      <dgm:spPr/>
      <dgm:t>
        <a:bodyPr/>
        <a:lstStyle/>
        <a:p>
          <a:r>
            <a:rPr lang="ro-RO"/>
            <a:t>Moscalu Sebastian: Grafice interactive (Hover), Export PDF/CSV, dialog setări.</a:t>
          </a:r>
          <a:endParaRPr lang="en-US"/>
        </a:p>
      </dgm:t>
    </dgm:pt>
    <dgm:pt modelId="{0CDEA889-CB94-49F2-A2F8-3E8EAFC328DB}" type="parTrans" cxnId="{78A17932-2BCA-4017-B196-2B4CC0C58694}">
      <dgm:prSet/>
      <dgm:spPr/>
      <dgm:t>
        <a:bodyPr/>
        <a:lstStyle/>
        <a:p>
          <a:endParaRPr lang="en-US"/>
        </a:p>
      </dgm:t>
    </dgm:pt>
    <dgm:pt modelId="{D9485419-0B8E-4C41-B32D-BC6A3C9DDC2F}" type="sibTrans" cxnId="{78A17932-2BCA-4017-B196-2B4CC0C58694}">
      <dgm:prSet/>
      <dgm:spPr/>
      <dgm:t>
        <a:bodyPr/>
        <a:lstStyle/>
        <a:p>
          <a:endParaRPr lang="en-US"/>
        </a:p>
      </dgm:t>
    </dgm:pt>
    <dgm:pt modelId="{CC76324A-2BF7-4A5B-9579-70F1761884AE}" type="pres">
      <dgm:prSet presAssocID="{C4C15798-B73A-48ED-8620-8515CB94230B}" presName="diagram" presStyleCnt="0">
        <dgm:presLayoutVars>
          <dgm:dir/>
          <dgm:resizeHandles val="exact"/>
        </dgm:presLayoutVars>
      </dgm:prSet>
      <dgm:spPr/>
    </dgm:pt>
    <dgm:pt modelId="{251936B5-8704-46DE-A0BA-40FB6247276C}" type="pres">
      <dgm:prSet presAssocID="{6FB47076-674D-4E3F-8F5B-B6AE8356E426}" presName="node" presStyleLbl="node1" presStyleIdx="0" presStyleCnt="3">
        <dgm:presLayoutVars>
          <dgm:bulletEnabled val="1"/>
        </dgm:presLayoutVars>
      </dgm:prSet>
      <dgm:spPr/>
    </dgm:pt>
    <dgm:pt modelId="{D30ED7BD-7774-4540-8CE2-AC5EFE570225}" type="pres">
      <dgm:prSet presAssocID="{F8284276-0D19-47D3-B6E3-605EDF2546A9}" presName="sibTrans" presStyleCnt="0"/>
      <dgm:spPr/>
    </dgm:pt>
    <dgm:pt modelId="{12848307-10AE-4E53-AD3E-009133B075AF}" type="pres">
      <dgm:prSet presAssocID="{8C96F936-6614-4EA4-8316-A7CF099F5EE0}" presName="node" presStyleLbl="node1" presStyleIdx="1" presStyleCnt="3">
        <dgm:presLayoutVars>
          <dgm:bulletEnabled val="1"/>
        </dgm:presLayoutVars>
      </dgm:prSet>
      <dgm:spPr/>
    </dgm:pt>
    <dgm:pt modelId="{43835ECC-5AFF-439A-935F-0ED95A2640D6}" type="pres">
      <dgm:prSet presAssocID="{FED267C0-AAD3-4E83-8746-0A377864F021}" presName="sibTrans" presStyleCnt="0"/>
      <dgm:spPr/>
    </dgm:pt>
    <dgm:pt modelId="{6865143A-D563-4E4C-8F20-B1B67C4F3732}" type="pres">
      <dgm:prSet presAssocID="{430D90DC-F77A-4554-BA17-DA050A11981C}" presName="node" presStyleLbl="node1" presStyleIdx="2" presStyleCnt="3">
        <dgm:presLayoutVars>
          <dgm:bulletEnabled val="1"/>
        </dgm:presLayoutVars>
      </dgm:prSet>
      <dgm:spPr/>
    </dgm:pt>
  </dgm:ptLst>
  <dgm:cxnLst>
    <dgm:cxn modelId="{7C3DEF22-4294-455C-A438-11A1152071A7}" type="presOf" srcId="{6FB47076-674D-4E3F-8F5B-B6AE8356E426}" destId="{251936B5-8704-46DE-A0BA-40FB6247276C}" srcOrd="0" destOrd="0" presId="urn:microsoft.com/office/officeart/2005/8/layout/default"/>
    <dgm:cxn modelId="{78A17932-2BCA-4017-B196-2B4CC0C58694}" srcId="{C4C15798-B73A-48ED-8620-8515CB94230B}" destId="{430D90DC-F77A-4554-BA17-DA050A11981C}" srcOrd="2" destOrd="0" parTransId="{0CDEA889-CB94-49F2-A2F8-3E8EAFC328DB}" sibTransId="{D9485419-0B8E-4C41-B32D-BC6A3C9DDC2F}"/>
    <dgm:cxn modelId="{698FFA45-E9DE-4F98-A4B0-95957FE91C46}" type="presOf" srcId="{C4C15798-B73A-48ED-8620-8515CB94230B}" destId="{CC76324A-2BF7-4A5B-9579-70F1761884AE}" srcOrd="0" destOrd="0" presId="urn:microsoft.com/office/officeart/2005/8/layout/default"/>
    <dgm:cxn modelId="{114F27AA-C67A-4A13-9C00-A5DBA78B2C9A}" srcId="{C4C15798-B73A-48ED-8620-8515CB94230B}" destId="{6FB47076-674D-4E3F-8F5B-B6AE8356E426}" srcOrd="0" destOrd="0" parTransId="{9096919A-326E-4C95-9A2D-334FF3D08768}" sibTransId="{F8284276-0D19-47D3-B6E3-605EDF2546A9}"/>
    <dgm:cxn modelId="{69FDFBAF-AD37-4A25-A67F-A5367264F849}" type="presOf" srcId="{430D90DC-F77A-4554-BA17-DA050A11981C}" destId="{6865143A-D563-4E4C-8F20-B1B67C4F3732}" srcOrd="0" destOrd="0" presId="urn:microsoft.com/office/officeart/2005/8/layout/default"/>
    <dgm:cxn modelId="{D76DCBC5-D05C-4CBD-A381-013835D8CC42}" srcId="{C4C15798-B73A-48ED-8620-8515CB94230B}" destId="{8C96F936-6614-4EA4-8316-A7CF099F5EE0}" srcOrd="1" destOrd="0" parTransId="{7449E744-29AA-45C3-8C79-2C748037CFDE}" sibTransId="{FED267C0-AAD3-4E83-8746-0A377864F021}"/>
    <dgm:cxn modelId="{4E79FAFD-7B6D-4A1A-A661-C8E8EA6B9AC4}" type="presOf" srcId="{8C96F936-6614-4EA4-8316-A7CF099F5EE0}" destId="{12848307-10AE-4E53-AD3E-009133B075AF}" srcOrd="0" destOrd="0" presId="urn:microsoft.com/office/officeart/2005/8/layout/default"/>
    <dgm:cxn modelId="{9E613BA2-9172-46BA-9292-8086FF1AB07D}" type="presParOf" srcId="{CC76324A-2BF7-4A5B-9579-70F1761884AE}" destId="{251936B5-8704-46DE-A0BA-40FB6247276C}" srcOrd="0" destOrd="0" presId="urn:microsoft.com/office/officeart/2005/8/layout/default"/>
    <dgm:cxn modelId="{04B0112E-01CA-41C4-AB32-54990D73FB2E}" type="presParOf" srcId="{CC76324A-2BF7-4A5B-9579-70F1761884AE}" destId="{D30ED7BD-7774-4540-8CE2-AC5EFE570225}" srcOrd="1" destOrd="0" presId="urn:microsoft.com/office/officeart/2005/8/layout/default"/>
    <dgm:cxn modelId="{B8B0FA26-00CB-41CD-BCDA-8B85EFC7253C}" type="presParOf" srcId="{CC76324A-2BF7-4A5B-9579-70F1761884AE}" destId="{12848307-10AE-4E53-AD3E-009133B075AF}" srcOrd="2" destOrd="0" presId="urn:microsoft.com/office/officeart/2005/8/layout/default"/>
    <dgm:cxn modelId="{A5CDF3D2-6F2A-4840-B2DF-00D2590893AA}" type="presParOf" srcId="{CC76324A-2BF7-4A5B-9579-70F1761884AE}" destId="{43835ECC-5AFF-439A-935F-0ED95A2640D6}" srcOrd="3" destOrd="0" presId="urn:microsoft.com/office/officeart/2005/8/layout/default"/>
    <dgm:cxn modelId="{1F7FB43D-2262-40CC-99BA-1027778AF2E1}" type="presParOf" srcId="{CC76324A-2BF7-4A5B-9579-70F1761884AE}" destId="{6865143A-D563-4E4C-8F20-B1B67C4F373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D0384-6BCB-4416-B5D0-1D8668674F75}">
      <dsp:nvSpPr>
        <dsp:cNvPr id="0" name=""/>
        <dsp:cNvSpPr/>
      </dsp:nvSpPr>
      <dsp:spPr>
        <a:xfrm>
          <a:off x="0" y="649557"/>
          <a:ext cx="4988440" cy="13747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/>
            <a:t>Export PDF Profesional: Generat prin QPrinter și QPainter, incluzând statistici sintetice și antet formatat.</a:t>
          </a:r>
          <a:endParaRPr lang="en-US" sz="2500" kern="1200"/>
        </a:p>
      </dsp:txBody>
      <dsp:txXfrm>
        <a:off x="67110" y="716667"/>
        <a:ext cx="4854220" cy="1240530"/>
      </dsp:txXfrm>
    </dsp:sp>
    <dsp:sp modelId="{D94B04A0-480D-4527-B23A-F3C77CDD71E0}">
      <dsp:nvSpPr>
        <dsp:cNvPr id="0" name=""/>
        <dsp:cNvSpPr/>
      </dsp:nvSpPr>
      <dsp:spPr>
        <a:xfrm>
          <a:off x="0" y="2096307"/>
          <a:ext cx="4988440" cy="137475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/>
            <a:t>Statistici: Temperatură medie, minime/maxime și total precipitații.</a:t>
          </a:r>
          <a:endParaRPr lang="en-US" sz="2500" kern="1200"/>
        </a:p>
      </dsp:txBody>
      <dsp:txXfrm>
        <a:off x="67110" y="2163417"/>
        <a:ext cx="4854220" cy="1240530"/>
      </dsp:txXfrm>
    </dsp:sp>
    <dsp:sp modelId="{E21C1DDC-99A7-44FA-B5F5-F2B420449E17}">
      <dsp:nvSpPr>
        <dsp:cNvPr id="0" name=""/>
        <dsp:cNvSpPr/>
      </dsp:nvSpPr>
      <dsp:spPr>
        <a:xfrm>
          <a:off x="0" y="3543057"/>
          <a:ext cx="4988440" cy="137475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/>
            <a:t>Format CSV: Exportul datelor brute pentru prelucrări externe.</a:t>
          </a:r>
          <a:endParaRPr lang="en-US" sz="2500" kern="1200"/>
        </a:p>
      </dsp:txBody>
      <dsp:txXfrm>
        <a:off x="67110" y="3610167"/>
        <a:ext cx="4854220" cy="1240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9A74F-8E62-42E1-922C-34FFF70601B3}">
      <dsp:nvSpPr>
        <dsp:cNvPr id="0" name=""/>
        <dsp:cNvSpPr/>
      </dsp:nvSpPr>
      <dsp:spPr>
        <a:xfrm>
          <a:off x="0" y="48969"/>
          <a:ext cx="78867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 dirty="0">
              <a:hlinkClick xmlns:r="http://schemas.openxmlformats.org/officeDocument/2006/relationships" r:id="rId1" action="ppaction://hlinkfile"/>
            </a:rPr>
            <a:t>Interfața principală cu tema </a:t>
          </a:r>
          <a:r>
            <a:rPr lang="ro-RO" sz="3400" kern="1200" dirty="0" err="1">
              <a:hlinkClick xmlns:r="http://schemas.openxmlformats.org/officeDocument/2006/relationships" r:id="rId1" action="ppaction://hlinkfile"/>
            </a:rPr>
            <a:t>Dark</a:t>
          </a:r>
          <a:r>
            <a:rPr lang="ro-RO" sz="3400" kern="1200" dirty="0">
              <a:hlinkClick xmlns:r="http://schemas.openxmlformats.org/officeDocument/2006/relationships" r:id="rId1" action="ppaction://hlinkfile"/>
            </a:rPr>
            <a:t> Mode și tabelul populat.</a:t>
          </a:r>
          <a:endParaRPr lang="en-US" sz="3400" kern="1200" dirty="0"/>
        </a:p>
      </dsp:txBody>
      <dsp:txXfrm>
        <a:off x="66025" y="114994"/>
        <a:ext cx="7754650" cy="1220470"/>
      </dsp:txXfrm>
    </dsp:sp>
    <dsp:sp modelId="{E78AC3A1-8AB3-4BBC-B4B9-F3A1C0B3342F}">
      <dsp:nvSpPr>
        <dsp:cNvPr id="0" name=""/>
        <dsp:cNvSpPr/>
      </dsp:nvSpPr>
      <dsp:spPr>
        <a:xfrm>
          <a:off x="0" y="1499409"/>
          <a:ext cx="7886700" cy="13525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 dirty="0">
              <a:hlinkClick xmlns:r="http://schemas.openxmlformats.org/officeDocument/2006/relationships" r:id="rId2" action="ppaction://hlinkfile"/>
            </a:rPr>
            <a:t>Graficele interactive cu </a:t>
          </a:r>
          <a:r>
            <a:rPr lang="ro-RO" sz="3400" kern="1200" dirty="0" err="1">
              <a:hlinkClick xmlns:r="http://schemas.openxmlformats.org/officeDocument/2006/relationships" r:id="rId2" action="ppaction://hlinkfile"/>
            </a:rPr>
            <a:t>tooltip-ul</a:t>
          </a:r>
          <a:r>
            <a:rPr lang="ro-RO" sz="3400" kern="1200" dirty="0">
              <a:hlinkClick xmlns:r="http://schemas.openxmlformats.org/officeDocument/2006/relationships" r:id="rId2" action="ppaction://hlinkfile"/>
            </a:rPr>
            <a:t> de </a:t>
          </a:r>
          <a:r>
            <a:rPr lang="ro-RO" sz="3400" kern="1200" dirty="0" err="1">
              <a:hlinkClick xmlns:r="http://schemas.openxmlformats.org/officeDocument/2006/relationships" r:id="rId2" action="ppaction://hlinkfile"/>
            </a:rPr>
            <a:t>hover</a:t>
          </a:r>
          <a:r>
            <a:rPr lang="ro-RO" sz="3400" kern="1200" dirty="0">
              <a:hlinkClick xmlns:r="http://schemas.openxmlformats.org/officeDocument/2006/relationships" r:id="rId2" action="ppaction://hlinkfile"/>
            </a:rPr>
            <a:t> activ.</a:t>
          </a:r>
          <a:endParaRPr lang="en-US" sz="3400" kern="1200" dirty="0"/>
        </a:p>
      </dsp:txBody>
      <dsp:txXfrm>
        <a:off x="66025" y="1565434"/>
        <a:ext cx="7754650" cy="1220470"/>
      </dsp:txXfrm>
    </dsp:sp>
    <dsp:sp modelId="{6432635C-5F89-46F3-B36B-6CDE35E169BC}">
      <dsp:nvSpPr>
        <dsp:cNvPr id="0" name=""/>
        <dsp:cNvSpPr/>
      </dsp:nvSpPr>
      <dsp:spPr>
        <a:xfrm>
          <a:off x="0" y="2949848"/>
          <a:ext cx="7886700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 dirty="0">
              <a:hlinkClick xmlns:r="http://schemas.openxmlformats.org/officeDocument/2006/relationships" r:id="rId3" action="ppaction://hlinkfile"/>
            </a:rPr>
            <a:t>Panoul de setări configurat pentru locația selectată.</a:t>
          </a:r>
          <a:endParaRPr lang="en-US" sz="3400" kern="1200" dirty="0"/>
        </a:p>
      </dsp:txBody>
      <dsp:txXfrm>
        <a:off x="66025" y="3015873"/>
        <a:ext cx="7754650" cy="122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936B5-8704-46DE-A0BA-40FB6247276C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Danalache Emanuel: UI, layout responsiv, design tabel, Dark Mode.</a:t>
          </a:r>
          <a:endParaRPr lang="en-US" sz="2700" kern="1200"/>
        </a:p>
      </dsp:txBody>
      <dsp:txXfrm>
        <a:off x="429570" y="472"/>
        <a:ext cx="3346456" cy="2007873"/>
      </dsp:txXfrm>
    </dsp:sp>
    <dsp:sp modelId="{12848307-10AE-4E53-AD3E-009133B075AF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Danalache Sebastian: Integrare API Open-Meteo, logică caching, procesare date.</a:t>
          </a:r>
          <a:endParaRPr lang="en-US" sz="2700" kern="1200"/>
        </a:p>
      </dsp:txBody>
      <dsp:txXfrm>
        <a:off x="4110672" y="472"/>
        <a:ext cx="3346456" cy="2007873"/>
      </dsp:txXfrm>
    </dsp:sp>
    <dsp:sp modelId="{6865143A-D563-4E4C-8F20-B1B67C4F3732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Moscalu Sebastian: Grafice interactive (Hover), Export PDF/CSV, dialog setări.</a:t>
          </a:r>
          <a:endParaRPr lang="en-US" sz="2700" kern="1200"/>
        </a:p>
      </dsp:txBody>
      <dsp:txXfrm>
        <a:off x="2270121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0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o-RO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666351"/>
            <a:ext cx="7918803" cy="3044335"/>
          </a:xfrm>
        </p:spPr>
        <p:txBody>
          <a:bodyPr anchor="b">
            <a:normAutofit/>
          </a:bodyPr>
          <a:lstStyle/>
          <a:p>
            <a:r>
              <a:rPr lang="ro-RO" sz="4200" noProof="0" dirty="0">
                <a:solidFill>
                  <a:schemeClr val="bg1"/>
                </a:solidFill>
              </a:rPr>
              <a:t>WeatherScheduler</a:t>
            </a:r>
          </a:p>
          <a:p>
            <a:r>
              <a:rPr lang="ro-RO" sz="4200" noProof="0" dirty="0">
                <a:solidFill>
                  <a:schemeClr val="bg1"/>
                </a:solidFill>
              </a:rPr>
              <a:t>Planificator Meteo Orar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866064"/>
            <a:ext cx="7918803" cy="223448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o-RO" sz="2700" noProof="0" dirty="0">
                <a:solidFill>
                  <a:schemeClr val="bg1"/>
                </a:solidFill>
              </a:rPr>
              <a:t>Proiect – Proiectare Interfețe Utilizator (PIU)</a:t>
            </a:r>
          </a:p>
          <a:p>
            <a:pPr fontAlgn="base">
              <a:lnSpc>
                <a:spcPct val="90000"/>
              </a:lnSpc>
            </a:pPr>
            <a:r>
              <a:rPr lang="ro-RO" sz="2700" b="1" noProof="0" dirty="0">
                <a:solidFill>
                  <a:schemeClr val="bg1"/>
                </a:solidFill>
              </a:rPr>
              <a:t>Autori:</a:t>
            </a:r>
            <a:r>
              <a:rPr lang="ro-RO" sz="2700" noProof="0" dirty="0">
                <a:solidFill>
                  <a:schemeClr val="bg1"/>
                </a:solidFill>
              </a:rPr>
              <a:t> Danalache Emanuel, Danalache Sebastian, Moscalu Sebastian</a:t>
            </a:r>
          </a:p>
          <a:p>
            <a:pPr>
              <a:lnSpc>
                <a:spcPct val="90000"/>
              </a:lnSpc>
            </a:pPr>
            <a:r>
              <a:rPr lang="ro-RO" sz="2700" noProof="0" dirty="0">
                <a:solidFill>
                  <a:schemeClr val="bg1"/>
                </a:solidFill>
              </a:rPr>
              <a:t>Universitatea Tehnică „Gheorghe Asachi” din Iași</a:t>
            </a:r>
          </a:p>
          <a:p>
            <a:pPr>
              <a:lnSpc>
                <a:spcPct val="90000"/>
              </a:lnSpc>
            </a:pPr>
            <a:r>
              <a:rPr lang="ro-RO" sz="2700" noProof="0" dirty="0">
                <a:solidFill>
                  <a:schemeClr val="bg1"/>
                </a:solidFill>
              </a:rPr>
              <a:t>An universitar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ro-RO" sz="6300" noProof="0" dirty="0"/>
              <a:t>Tema proiectului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30" y="2853267"/>
            <a:ext cx="8178790" cy="3377890"/>
          </a:xfrm>
        </p:spPr>
        <p:txBody>
          <a:bodyPr anchor="t">
            <a:normAutofit/>
          </a:bodyPr>
          <a:lstStyle/>
          <a:p>
            <a:r>
              <a:rPr lang="ro-RO" sz="2100" noProof="0" dirty="0"/>
              <a:t>Problematică: Dificultatea corelării activităților academice cu prognoza meteo variabilă.</a:t>
            </a:r>
            <a:r>
              <a:rPr lang="en-US" sz="2100" noProof="0" dirty="0"/>
              <a:t> </a:t>
            </a:r>
            <a:r>
              <a:rPr lang="ro-RO" sz="2100" noProof="0" dirty="0"/>
              <a:t>Obiectiv Principal: </a:t>
            </a:r>
          </a:p>
          <a:p>
            <a:r>
              <a:rPr lang="ro-RO" sz="2100" noProof="0" dirty="0"/>
              <a:t>Crearea unei aplicații desktop care corelează automat un orar personalizat cu date meteo în timp real</a:t>
            </a:r>
            <a:r>
              <a:rPr lang="en-US" sz="2100" noProof="0" dirty="0"/>
              <a:t> cu s</a:t>
            </a:r>
            <a:r>
              <a:rPr lang="ro-RO" sz="2100" dirty="0"/>
              <a:t>uport decizional pentru activități academice</a:t>
            </a:r>
            <a:r>
              <a:rPr lang="en-US" sz="2100" dirty="0"/>
              <a:t> </a:t>
            </a:r>
            <a:r>
              <a:rPr lang="ro-RO" sz="2100" dirty="0"/>
              <a:t>ș</a:t>
            </a:r>
            <a:r>
              <a:rPr lang="en-US" sz="2100" dirty="0" err="1"/>
              <a:t>i</a:t>
            </a:r>
            <a:r>
              <a:rPr lang="en-US" sz="2100" dirty="0"/>
              <a:t> v</a:t>
            </a:r>
            <a:r>
              <a:rPr lang="ro-RO" sz="2100" dirty="0"/>
              <a:t>izualizare meteo pe intervale orare</a:t>
            </a:r>
            <a:endParaRPr lang="ro-RO" sz="2100" noProof="0" dirty="0"/>
          </a:p>
          <a:p>
            <a:r>
              <a:rPr lang="ro-RO" sz="2100" noProof="0" dirty="0"/>
              <a:t>Tehnologii Cheie: Python 3.11, PyQt6, Open-Meteo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ro-RO" sz="3100" noProof="0"/>
              <a:t>Obiectivele proiectului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ro-RO" sz="2100" noProof="0"/>
              <a:t>Dezvoltarea unei aplicații desktop moderne</a:t>
            </a:r>
          </a:p>
          <a:p>
            <a:pPr lvl="1"/>
            <a:r>
              <a:rPr lang="ro-RO" sz="2100" noProof="0"/>
              <a:t>Integrarea unui serviciu meteo real</a:t>
            </a:r>
          </a:p>
          <a:p>
            <a:pPr lvl="1"/>
            <a:r>
              <a:rPr lang="ro-RO" sz="2100" noProof="0"/>
              <a:t>Afișare tabelară și grafică</a:t>
            </a:r>
          </a:p>
          <a:p>
            <a:pPr lvl="1"/>
            <a:r>
              <a:rPr lang="ro-RO" sz="2100" noProof="0"/>
              <a:t>Export date și rapoarte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ro-RO" sz="3100" noProof="0"/>
              <a:t>Arhitectura aplicației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4" y="1388533"/>
            <a:ext cx="4395730" cy="382059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o-RO" sz="2100" noProof="0" dirty="0"/>
              <a:t>Arhitectură modulară și scalabilă</a:t>
            </a:r>
            <a:r>
              <a:rPr lang="ro-RO" sz="2100" dirty="0"/>
              <a:t>:</a:t>
            </a:r>
            <a:endParaRPr lang="ro-RO" sz="2100" noProof="0" dirty="0"/>
          </a:p>
          <a:p>
            <a:r>
              <a:rPr lang="ro-RO" sz="2100" dirty="0"/>
              <a:t>core/: Logica de business, procesarea datelor și serviciul meteo</a:t>
            </a:r>
          </a:p>
          <a:p>
            <a:r>
              <a:rPr lang="ro-RO" sz="2100" dirty="0"/>
              <a:t>ui/: Gestionarea interfeței principale și a dialogurilor.</a:t>
            </a:r>
          </a:p>
          <a:p>
            <a:r>
              <a:rPr lang="ro-RO" sz="2100" dirty="0"/>
              <a:t>widgets/: Componente vizuale (grafice, notificări)</a:t>
            </a:r>
          </a:p>
          <a:p>
            <a:r>
              <a:rPr lang="ro-RO" sz="2100" dirty="0"/>
              <a:t>utils/: Funcționalități de export PDF/CSV.</a:t>
            </a:r>
          </a:p>
          <a:p>
            <a:pPr marL="0" indent="0">
              <a:buNone/>
            </a:pPr>
            <a:r>
              <a:rPr lang="ro-RO" sz="2100" dirty="0"/>
              <a:t>Comunicare: Utilizarea sistemului de semnale și </a:t>
            </a:r>
            <a:r>
              <a:rPr lang="ro-RO" sz="2100" dirty="0" err="1"/>
              <a:t>sloturi</a:t>
            </a:r>
            <a:r>
              <a:rPr lang="ro-RO" sz="2100" dirty="0"/>
              <a:t> PyQt6 pentru actualizări asincrone</a:t>
            </a:r>
          </a:p>
          <a:p>
            <a:pPr lvl="1"/>
            <a:endParaRPr lang="ro-RO" sz="2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ro-RO" sz="3300" noProof="0">
                <a:solidFill>
                  <a:srgbClr val="FFFFFF"/>
                </a:solidFill>
              </a:rPr>
              <a:t>Funcționalități implementate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AA66F99-B020-0283-0604-00881273E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2924" y="518400"/>
            <a:ext cx="3578706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Vizualizare Tabelară:</a:t>
            </a:r>
            <a:r>
              <a:rPr kumimoji="0" lang="ro-RO" altLang="ro-RO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Orar completat automat cu temperatură, vânt, precipitații și descriere meteo.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Interactivitate Hover:</a:t>
            </a:r>
            <a:r>
              <a:rPr kumimoji="0" lang="ro-RO" altLang="ro-RO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Vizualizarea detaliilor precise direct pe grafic la trecerea mouse-ului peste punctele de date (temperatură/precipitații).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Sincronizare Unități:</a:t>
            </a:r>
            <a:r>
              <a:rPr kumimoji="0" lang="ro-RO" altLang="ro-RO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Conversie instantanee între Celsius și Fahrenheit în toată interfața.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C1826-9A40-0AE3-D417-E148AC71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2A1830-D108-2960-03DB-59A249C4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1F6BAC-2D15-8C86-0B8C-1FC22D3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CF4F0-ECEA-3279-D1EB-3DB073C2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ro-RO" sz="3300" noProof="0">
                <a:solidFill>
                  <a:srgbClr val="FFFFFF"/>
                </a:solidFill>
              </a:rPr>
              <a:t>Funcționalități implementate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C358D4-8731-A04D-C487-90DB0527D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2E5F950B-C68F-57B1-1241-D0EFEFBA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10">
              <a:extLst>
                <a:ext uri="{FF2B5EF4-FFF2-40B4-BE49-F238E27FC236}">
                  <a16:creationId xmlns:a16="http://schemas.microsoft.com/office/drawing/2014/main" id="{4F4255C3-96C8-3429-3A2F-CDDEBD230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DC77D134-4869-58D8-169C-EE59CFB0D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FB65E0BD-EEDE-07F3-A9D9-29463B2E3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2924" y="518400"/>
            <a:ext cx="3578706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o-RO" altLang="ro-RO" sz="17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Sistem de Notificări</a:t>
            </a:r>
            <a:r>
              <a:rPr lang="ro-RO" altLang="ro-RO" sz="17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: Alerte automate pentru condiții meteo nefavorabile (ex: ploaie) detectate în orarul de mâine.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o-RO" altLang="ro-RO" sz="17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Management Cache</a:t>
            </a:r>
            <a:r>
              <a:rPr lang="ro-RO" altLang="ro-RO" sz="17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: Stocarea datelor în </a:t>
            </a:r>
            <a:r>
              <a:rPr lang="ro-RO" altLang="ro-RO" sz="17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weather_cache.json</a:t>
            </a:r>
            <a:r>
              <a:rPr lang="ro-RO" altLang="ro-RO" sz="17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pentru a reduce interogările API și a optimiza viteza.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o-RO" altLang="ro-RO" sz="17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Persistență</a:t>
            </a:r>
            <a:r>
              <a:rPr lang="ro-RO" altLang="ro-RO" sz="17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: Salvarea preferințelor utilizatorului (oraș, unități) în </a:t>
            </a:r>
            <a:r>
              <a:rPr lang="ro-RO" altLang="ro-RO" sz="17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settings.json</a:t>
            </a:r>
            <a:r>
              <a:rPr lang="ro-RO" altLang="ro-RO" sz="17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ro-RO" altLang="ro-RO" sz="17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6EE463-AE36-88E2-32A8-C44F91A8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9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rPr lang="ro-RO" noProof="0" dirty="0"/>
              <a:t>Export și rapoarte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077C74-3C7F-3E64-0121-33202FFDE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415511"/>
              </p:ext>
            </p:extLst>
          </p:nvPr>
        </p:nvGraphicFramePr>
        <p:xfrm>
          <a:off x="3526910" y="609600"/>
          <a:ext cx="498844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r blurry blue and white lights&#10;&#10;AI-generated content may be incorrect.">
            <a:extLst>
              <a:ext uri="{FF2B5EF4-FFF2-40B4-BE49-F238E27FC236}">
                <a16:creationId xmlns:a16="http://schemas.microsoft.com/office/drawing/2014/main" id="{92818187-88A5-DC67-5CCD-E3A551DD99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o-RO" noProof="0" dirty="0"/>
              <a:t>Rezultatele aplicației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0FF526-FAF2-14B0-C15B-E8BA80305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2658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B2814E-AF27-8579-6776-CAD8F06985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o-RO" noProof="0" dirty="0"/>
              <a:t>Contribuții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D69877-3B5B-4FDD-5475-D525C5A57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59716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392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WeatherScheduler Planificator Meteo Orar</vt:lpstr>
      <vt:lpstr>Tema proiectului</vt:lpstr>
      <vt:lpstr>Obiectivele proiectului</vt:lpstr>
      <vt:lpstr>Arhitectura aplicației</vt:lpstr>
      <vt:lpstr>Funcționalități implementate</vt:lpstr>
      <vt:lpstr>Funcționalități implementate</vt:lpstr>
      <vt:lpstr>Export și rapoarte</vt:lpstr>
      <vt:lpstr>Rezultatele aplicației</vt:lpstr>
      <vt:lpstr>Contribuții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Sebastian Danalache</dc:creator>
  <cp:keywords/>
  <dc:description>generated using python-pptx</dc:description>
  <cp:lastModifiedBy>Sebastian Danalache</cp:lastModifiedBy>
  <cp:revision>5</cp:revision>
  <dcterms:created xsi:type="dcterms:W3CDTF">2013-01-27T09:14:16Z</dcterms:created>
  <dcterms:modified xsi:type="dcterms:W3CDTF">2025-12-29T14:38:33Z</dcterms:modified>
  <cp:category/>
</cp:coreProperties>
</file>